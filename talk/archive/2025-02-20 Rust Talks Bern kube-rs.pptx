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22" Type="http://schemas.openxmlformats.org/officeDocument/2006/relationships/font" Target="fonts/RobotoMono-bold.fntdata"/><Relationship Id="rId10" Type="http://schemas.openxmlformats.org/officeDocument/2006/relationships/slide" Target="slides/slide5.xml"/><Relationship Id="rId21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24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1b631d2cbf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1b631d2cbf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7e744d6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37e744d6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7e744d6b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7e744d6b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7e744d6b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7e744d6b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7e744d6b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7e744d6b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7e744d6b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37e744d6b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7e744d6b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7e744d6b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7e744d6b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7e744d6b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7e744d6ba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37e744d6ba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b631d2cbf_6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1b631d2cbf_6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b631d2cbf_6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1b631d2cbf_6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1789275"/>
            <a:ext cx="6479700" cy="180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870625"/>
            <a:ext cx="5696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13525" y="-2162"/>
            <a:ext cx="2830799" cy="3316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68950"/>
            <a:ext cx="2481773" cy="64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zzle ITC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b="1" sz="3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2529325"/>
            <a:ext cx="6479700" cy="10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500"/>
              <a:t>Extend Kubernetes Using Rust:</a:t>
            </a:r>
            <a:endParaRPr sz="3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500"/>
              <a:t>A </a:t>
            </a:r>
            <a:r>
              <a:rPr i="1" lang="en" sz="3500"/>
              <a:t>Quick</a:t>
            </a:r>
            <a:r>
              <a:rPr lang="en" sz="3500"/>
              <a:t> Introduction to kube-rs</a:t>
            </a:r>
            <a:endParaRPr sz="35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70625"/>
            <a:ext cx="5696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Yannik Dällenbach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Rust Talks Bern, 20.02.2025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6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Introduction to Kubernetes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kube-rs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Demos</a:t>
            </a:r>
            <a:endParaRPr sz="2600"/>
          </a:p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5" name="Google Shape;65;p14"/>
          <p:cNvGrpSpPr/>
          <p:nvPr/>
        </p:nvGrpSpPr>
        <p:grpSpPr>
          <a:xfrm>
            <a:off x="4966175" y="1195850"/>
            <a:ext cx="3919922" cy="2637314"/>
            <a:chOff x="5166575" y="1359475"/>
            <a:chExt cx="3919922" cy="2637314"/>
          </a:xfrm>
        </p:grpSpPr>
        <p:pic>
          <p:nvPicPr>
            <p:cNvPr id="66" name="Google Shape;66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66575" y="1359475"/>
              <a:ext cx="2497174" cy="24245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89325" y="2332421"/>
              <a:ext cx="2497172" cy="16643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" name="Google Shape;68;p14"/>
            <p:cNvSpPr txBox="1"/>
            <p:nvPr/>
          </p:nvSpPr>
          <p:spPr>
            <a:xfrm>
              <a:off x="7346211" y="1566475"/>
              <a:ext cx="9834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2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💕</a:t>
              </a:r>
              <a:endPara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6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Kubernetes?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Kubernetes is a </a:t>
            </a:r>
            <a:r>
              <a:rPr lang="en" sz="2600">
                <a:solidFill>
                  <a:srgbClr val="CE412B"/>
                </a:solidFill>
              </a:rPr>
              <a:t>portable</a:t>
            </a:r>
            <a:r>
              <a:rPr lang="en" sz="2600"/>
              <a:t>, </a:t>
            </a:r>
            <a:r>
              <a:rPr lang="en" sz="2600">
                <a:solidFill>
                  <a:srgbClr val="CE412B"/>
                </a:solidFill>
              </a:rPr>
              <a:t>extensible</a:t>
            </a:r>
            <a:r>
              <a:rPr lang="en" sz="2600"/>
              <a:t>, </a:t>
            </a:r>
            <a:r>
              <a:rPr lang="en" sz="2600">
                <a:solidFill>
                  <a:srgbClr val="CE412B"/>
                </a:solidFill>
              </a:rPr>
              <a:t>open source platform for managing containerized workloads</a:t>
            </a:r>
            <a:r>
              <a:rPr lang="en" sz="2600"/>
              <a:t> and services, that facilitates both declarative configuration and automation.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/>
              <a:t>https://kubernetes.io/docs/concepts/overview/</a:t>
            </a:r>
            <a:endParaRPr sz="2200"/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575" y="188675"/>
            <a:ext cx="7114844" cy="447455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2107650" y="4675375"/>
            <a:ext cx="492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https://kubernetes.io/images/docs/kubernetes-cluster-architecture.svg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6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API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Resources (Pods, Deployments, Services,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Controllers and Operators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Custom Resource Definitions (CRDs) allow extending the API</a:t>
            </a:r>
            <a:endParaRPr/>
          </a:p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150" y="2328275"/>
            <a:ext cx="4502698" cy="239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5873" y="315175"/>
            <a:ext cx="5632276" cy="422684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1003038" y="4599575"/>
            <a:ext cx="7137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https://github.com/kubernetes/sample-controller/blob/master/docs/images/client-go-controller-interaction.jpeg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5873" y="315175"/>
            <a:ext cx="5632276" cy="422684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 txBox="1"/>
          <p:nvPr/>
        </p:nvSpPr>
        <p:spPr>
          <a:xfrm>
            <a:off x="1003038" y="4599575"/>
            <a:ext cx="713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https://github.com/kubernetes/sample-controller/blob/master/docs/images/client-go-controller-interaction.jpeg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https://blog.container-solutions.com/hs-fs/hubfs/kubernetes_operators_diagram1.png</a:t>
            </a:r>
            <a:endParaRPr sz="1100"/>
          </a:p>
        </p:txBody>
      </p:sp>
      <p:pic>
        <p:nvPicPr>
          <p:cNvPr descr="kubernetes_operators_diagram1" id="105" name="Google Shape;10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7225" y="1644625"/>
            <a:ext cx="4929576" cy="160802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 txBox="1"/>
          <p:nvPr/>
        </p:nvSpPr>
        <p:spPr>
          <a:xfrm>
            <a:off x="2212389" y="1734271"/>
            <a:ext cx="2070300" cy="17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6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kube-rs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Rust client for Kubernetes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Runtime abstraction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Derive macro for CRDs</a:t>
            </a:r>
            <a:br>
              <a:rPr lang="en" sz="2800"/>
            </a:b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First release: April 29, 2019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Hosted by CNCF as a Sandbox Project </a:t>
            </a:r>
            <a:br>
              <a:rPr lang="en" sz="2800"/>
            </a:br>
            <a:r>
              <a:rPr lang="en" sz="2800"/>
              <a:t>since November 16, 2022</a:t>
            </a:r>
            <a:endParaRPr sz="2800"/>
          </a:p>
        </p:txBody>
      </p:sp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8325" y="664500"/>
            <a:ext cx="2494126" cy="249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6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kube-rs: Runtime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Roboto Mono"/>
              <a:buChar char="●"/>
            </a:pPr>
            <a:r>
              <a:rPr lang="en" sz="2800">
                <a:latin typeface="Roboto Mono"/>
                <a:ea typeface="Roboto Mono"/>
                <a:cs typeface="Roboto Mono"/>
                <a:sym typeface="Roboto Mono"/>
              </a:rPr>
              <a:t>watcher:</a:t>
            </a:r>
            <a:r>
              <a:rPr lang="en" sz="2800"/>
              <a:t> stream of events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Roboto Mono"/>
              <a:buChar char="●"/>
            </a:pPr>
            <a:r>
              <a:rPr lang="en" sz="2800"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en" sz="2800">
                <a:latin typeface="Roboto Mono"/>
                <a:ea typeface="Roboto Mono"/>
                <a:cs typeface="Roboto Mono"/>
                <a:sym typeface="Roboto Mono"/>
              </a:rPr>
              <a:t>eflector: watcher</a:t>
            </a:r>
            <a:r>
              <a:rPr lang="en" sz="2800"/>
              <a:t> + store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Roboto Mono"/>
              <a:buChar char="●"/>
            </a:pPr>
            <a:r>
              <a:rPr lang="en" sz="2800">
                <a:latin typeface="Roboto Mono"/>
                <a:ea typeface="Roboto Mono"/>
                <a:cs typeface="Roboto Mono"/>
                <a:sym typeface="Roboto Mono"/>
              </a:rPr>
              <a:t>c</a:t>
            </a:r>
            <a:r>
              <a:rPr lang="en" sz="2800">
                <a:latin typeface="Roboto Mono"/>
                <a:ea typeface="Roboto Mono"/>
                <a:cs typeface="Roboto Mono"/>
                <a:sym typeface="Roboto Mono"/>
              </a:rPr>
              <a:t>ontroller: reflector </a:t>
            </a:r>
            <a:r>
              <a:rPr lang="en" sz="2800"/>
              <a:t>+ </a:t>
            </a:r>
            <a:r>
              <a:rPr i="1" lang="en" sz="2800"/>
              <a:t>n</a:t>
            </a:r>
            <a:r>
              <a:rPr lang="en" sz="2800"/>
              <a:t> </a:t>
            </a:r>
            <a:r>
              <a:rPr lang="en" sz="2800">
                <a:latin typeface="Roboto Mono"/>
                <a:ea typeface="Roboto Mono"/>
                <a:cs typeface="Roboto Mono"/>
                <a:sym typeface="Roboto Mono"/>
              </a:rPr>
              <a:t>watcher</a:t>
            </a:r>
            <a:r>
              <a:rPr lang="en" sz="2800"/>
              <a:t>s + reconciler</a:t>
            </a:r>
            <a:endParaRPr sz="2800"/>
          </a:p>
        </p:txBody>
      </p:sp>
      <p:sp>
        <p:nvSpPr>
          <p:cNvPr id="121" name="Google Shape;12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Demos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445025"/>
            <a:ext cx="8520600" cy="6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1152475"/>
            <a:ext cx="500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https://kube.rs/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https://github.com/kube-rs/version-rs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https://github.com/kube-rs/controller-rs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https://github.com/kube-rs/kube/issues/584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https://github.com/olix0r/kubert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https://ahmet.im/blog/controller-pitfalls/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https://github.com/linkerd/linkerd2/tree/582f1afa5ebf0f3d227a0260bc611e987fcd261e/policy-controller</a:t>
            </a:r>
            <a:endParaRPr sz="1600"/>
          </a:p>
        </p:txBody>
      </p:sp>
      <p:sp>
        <p:nvSpPr>
          <p:cNvPr id="135" name="Google Shape;13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0552" y="3204477"/>
            <a:ext cx="2879000" cy="1939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2525" y="1112825"/>
            <a:ext cx="1786852" cy="1786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3B7BBE"/>
      </a:dk1>
      <a:lt1>
        <a:srgbClr val="FFFFFF"/>
      </a:lt1>
      <a:dk2>
        <a:srgbClr val="32363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